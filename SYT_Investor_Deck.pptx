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US$B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$0.0&quot;B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2027E</c:v>
                  </c:pt>
                  <c:pt idx="2">
                    <c:v>2029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5.9</c:v>
                </c:pt>
                <c:pt idx="1">
                  <c:v>7.2</c:v>
                </c:pt>
                <c:pt idx="2">
                  <c:v>8.6</c:v>
                </c:pt>
              </c:numCache>
            </c:numRef>
          </c:val>
        </c:ser>
        <c:dLbls>
          <c:numFmt formatCode="$0.0&quot;B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9FAFB"/>
        </a:solidFill>
        <a:ln>
          <a:noFill/>
        </a:ln>
        <a:effectLst/>
      </c:spPr>
    </c:plotArea>
    <c:plotVisOnly val="1"/>
    <c:dispBlanksAs val="span"/>
  </c:chart>
  <c:spPr>
    <a:solidFill>
      <a:srgbClr val="F9FA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6B35"/>
              </a:solidFill>
              <a:effectLst/>
            </c:spPr>
          </c:dPt>
          <c:dPt>
            <c:idx val="1"/>
            <c:bubble3D val="0"/>
            <c:spPr>
              <a:solidFill>
                <a:srgbClr val="FFA15C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9CA3A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118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118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118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118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Growth &amp; marketing</c:v>
                </c:pt>
                <c:pt idx="1">
                  <c:v>Product &amp; mobile</c:v>
                </c:pt>
                <c:pt idx="2">
                  <c:v>Trust &amp; safety / ops</c:v>
                </c:pt>
                <c:pt idx="3">
                  <c:v>Team &amp; hiring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30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</c:ser>
        <c:firstSliceAng val="0"/>
        <c:holeSize val="58"/>
      </c:doughnutChart>
      <c:spPr>
        <a:solidFill>
          <a:srgbClr val="111827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One-liner: SYT (Sell Your Things) is a finished, tested classifieds marketplace for India. Hook: OLX shut its India C2C marketplace in 2023 — demand never left, the destination did. We're raising a $250K–$750K pre-seed to capture that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pain. The category leader (OLX) pivoted to autos and exited general C2C in 2023. The everyday Indian who wants to sell a phone, a fridge, a bike has no modern, trusted, dedicated place to do it. That is the wedge.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forces converge: (1) a supply gap — OLX left; (2) demand tailwinds — a billion smartphones, ubiquitous UPI payments, and a fast-growing resale economy. The window to build the default India C2C marketplace is open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pillars: Trust, Real-time, Effortless. The combination is the moat — anyone can list items; few combine identity/trust, live chat, and hyperlocal maps in one fast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Investor takeaway: the product risk is largely retired. This isn't a pitch for something to be built — it's working software. Capital accelerates growth, not basic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of execution: ~6,000 lines, 348 tests, 97.5% coverage. This signals a founder who ships production-quality work — the strongest pre-seed signal there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Size the prize. TAM = the resale economy ($5.9B and growing ~10%/yr). SAM = online classifieds (~$2.7B). SOM = what we realistically take with a city-by-city playbook. Small share of a market this big is a large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two streams that need no extra infra — boosts (already built) and ads. Payments/escrow and subscriptions layer on as liquidity grows. Marketplace economics: software margins, demand-side virality.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most scrutinized slide — fill in real numbers. Even modest revenue at pre-seed proves willingness to pay. Emphasize growth rate and retention/repeat behavior over absolute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Marketplaces are won locally. We concentrate liquidity in one city and a few categories until it feels indispensable, then copy-paste. Cheap, compounding channels (SEO, referrals, community) keep CAC 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isn't that we beat everyone on every row — it's that no one combines a dedicated C2C focus with trust + hyperlocal + monetization. SYT is the only one purpose-built for that intersection in India.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Sequence: mobile + payments first (where Indian users live), then trust features and AI, then geographic expansion and the ad platform. Each milestone maps to revenue and the metrics a Seed round will want.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ask. $250–750K for ~18 months. Use of funds skews to growth and mobile because the core product already exists. Tie the round explicitly to the metrics that unlock a 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conviction and a clear ask. Recap the three reasons: built/de-risked, open market, already monetizing. Invite the conversation and hand over contact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7818120" y="1051560"/>
            <a:ext cx="4206240" cy="4206240"/>
          </a:xfrm>
          <a:prstGeom prst="rect">
            <a:avLst/>
          </a:prstGeom>
        </p:spPr>
      </p:pic>
      <p:pic>
        <p:nvPicPr>
          <p:cNvPr id="3" name="Image 1" descr="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58368"/>
            <a:ext cx="950976" cy="9509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3664" y="60350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SYT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1911096" y="12252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YOUR THINGS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822960" y="233172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marketplace to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sell anything.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841248" y="422452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trust-first classifieds platform — built, tested, and ready to scale into the gap OLX left behind in India's C2C market.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841248" y="5943600"/>
            <a:ext cx="1051560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41248" y="6053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INVESTMENT OPPORTUNITY</a:t>
            </a:r>
            <a:pPr indent="0" marL="0">
              <a:buNone/>
            </a:pPr>
            <a:r>
              <a:rPr lang="en-US" sz="12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2026   ·   Confidential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766560" y="6053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  ·  karthikeyan6891@gmail.com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&amp; selling locally is still broken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22144" cy="301752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21408"/>
            <a:ext cx="658368" cy="658368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28600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926080"/>
            <a:ext cx="201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 walked away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96112" y="3520440"/>
            <a:ext cx="201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OLX shut its India C2C marketplace in 2023, stranding 35M+ users with no dedicated home for general buy-and-sell.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36544" y="1828800"/>
            <a:ext cx="2522144" cy="301752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92576" y="2121408"/>
            <a:ext cx="658368" cy="658368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168" y="228600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92576" y="2926080"/>
            <a:ext cx="201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trust deficit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692576" y="3520440"/>
            <a:ext cx="201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Spam, scams, ghosting and zero identity make peer-to-peer deals risky and frustrating for everyone.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3008" y="1828800"/>
            <a:ext cx="2522144" cy="301752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89040" y="2121408"/>
            <a:ext cx="658368" cy="658368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632" y="228600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89040" y="2926080"/>
            <a:ext cx="201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Dated, clunky experience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489040" y="3520440"/>
            <a:ext cx="201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search, no real-time chat and poor mobile UX on the alternatives that remain.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29471" y="1828800"/>
            <a:ext cx="2522144" cy="301752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85503" y="2121408"/>
            <a:ext cx="658368" cy="658368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095" y="228600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5503" y="2926080"/>
            <a:ext cx="201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&amp; scattered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285503" y="3520440"/>
            <a:ext cx="201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juggle WhatsApp, Facebook groups and niche apps — no single, trusted destination.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40080" y="51206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never left India. </a:t>
            </a:r>
            <a:pPr algn="ctr" indent="0" marL="0">
              <a:buNone/>
            </a:pPr>
            <a:r>
              <a:rPr lang="en-US" sz="1800" b="1" dirty="0">
                <a:solidFill>
                  <a:srgbClr val="D63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trusted destination did.</a:t>
            </a:r>
            <a:endParaRPr lang="en-US" sz="1800" dirty="0"/>
          </a:p>
        </p:txBody>
      </p:sp>
      <p:pic>
        <p:nvPicPr>
          <p:cNvPr id="25" name="Image 4" descr="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640080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32688" y="6391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SYT · Sell Your Things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0820095" y="63916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rare, wide-open window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0" cy="36576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pic>
        <p:nvPicPr>
          <p:cNvPr id="5" name="Image 0" descr="mark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4572000" y="2011680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05840" y="219456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377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0632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5400" dirty="0"/>
          </a:p>
        </p:txBody>
      </p:sp>
      <p:sp>
        <p:nvSpPr>
          <p:cNvPr id="9" name="Text 5"/>
          <p:cNvSpPr/>
          <p:nvPr/>
        </p:nvSpPr>
        <p:spPr>
          <a:xfrm>
            <a:off x="1005840" y="3977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OLX exits India's C2C marketplace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005840" y="45262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leader vacated a multi-billion-dollar market — leaving its audience without a dedicated platform.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43600" y="1828800"/>
            <a:ext cx="5608015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199632" y="2084832"/>
            <a:ext cx="566928" cy="566928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364" y="2226564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1975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660M+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8549640" y="1975104"/>
            <a:ext cx="2819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users in India, heading past 1 billion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943600" y="3108960"/>
            <a:ext cx="5608015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99632" y="3364992"/>
            <a:ext cx="566928" cy="566928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364" y="3506724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325526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3000" dirty="0"/>
          </a:p>
        </p:txBody>
      </p:sp>
      <p:sp>
        <p:nvSpPr>
          <p:cNvPr id="20" name="Text 14"/>
          <p:cNvSpPr/>
          <p:nvPr/>
        </p:nvSpPr>
        <p:spPr>
          <a:xfrm>
            <a:off x="8549640" y="3255264"/>
            <a:ext cx="2819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users — 85% of all digital transactions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943600" y="4389120"/>
            <a:ext cx="5608015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199632" y="4645152"/>
            <a:ext cx="566928" cy="566928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1364" y="4786884"/>
            <a:ext cx="283464" cy="2834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49440" y="453542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$5.9B</a:t>
            </a:r>
            <a:endParaRPr lang="en-US" sz="3000" dirty="0"/>
          </a:p>
        </p:txBody>
      </p:sp>
      <p:sp>
        <p:nvSpPr>
          <p:cNvPr id="25" name="Text 18"/>
          <p:cNvSpPr/>
          <p:nvPr/>
        </p:nvSpPr>
        <p:spPr>
          <a:xfrm>
            <a:off x="8549640" y="4535424"/>
            <a:ext cx="2819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recommerce market in 2025, growing to $8.6B by 2029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40080" y="57607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NPCI/IBEF (smartphone &amp; UPI adoption); ResearchAndMarkets — India Recommerce Intelligence Report 2025.</a:t>
            </a:r>
            <a:endParaRPr lang="en-US" sz="900" dirty="0"/>
          </a:p>
        </p:txBody>
      </p:sp>
      <p:pic>
        <p:nvPicPr>
          <p:cNvPr id="27" name="Image 5" descr="m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6400800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32688" y="6391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SYT · Sell Your Things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0820095" y="63916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SYT — buy &amp; sell anything, near you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trust-first marketplace that rebuilds everything people loved about classifieds, for 2026.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2381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77440"/>
            <a:ext cx="868680" cy="86868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2594610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42900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design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0120" y="3977640"/>
            <a:ext cx="2783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sign-in, secure accounts and active moderation make every deal feel safe — the #1 thing missing today.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3938" y="2011680"/>
            <a:ext cx="342381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3978" y="2377440"/>
            <a:ext cx="868680" cy="86868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148" y="2594610"/>
            <a:ext cx="434340" cy="4343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3978" y="342900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everything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703978" y="3977640"/>
            <a:ext cx="2783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in-app chat, typing indicators and live notifications keep buyers and sellers talking and closing.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27797" y="2011680"/>
            <a:ext cx="342381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47837" y="2377440"/>
            <a:ext cx="868680" cy="86868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5007" y="2594610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47837" y="342900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Effortless &amp; hyperlocal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447837" y="3977640"/>
            <a:ext cx="2783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in seconds, drop a map pin, search and filter instantly — fast on every phone.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55778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OLX users loved — </a:t>
            </a:r>
            <a:pPr algn="ctr" indent="0" marL="0">
              <a:buNone/>
            </a:pPr>
            <a:r>
              <a:rPr lang="en-US" sz="1600" b="1" dirty="0">
                <a:solidFill>
                  <a:srgbClr val="D63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rebuilt, modern, and purpose-built for India.</a:t>
            </a:r>
            <a:endParaRPr lang="en-US" sz="1600" dirty="0"/>
          </a:p>
        </p:txBody>
      </p:sp>
      <p:pic>
        <p:nvPicPr>
          <p:cNvPr id="21" name="Image 3" descr="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40080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" y="6391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SYT · Sell Your Things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820095" y="63916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concept — a finished product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app today, with a mobile-ready architecture. Every feature below is already built and tested.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4271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67128"/>
            <a:ext cx="548640" cy="548640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30428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2807208"/>
            <a:ext cx="21403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&amp; media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41248" y="3118104"/>
            <a:ext cx="2140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Post, edit &amp; manage ads with multi-image upload (S3-ready).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29686" y="1965960"/>
            <a:ext cx="254271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0854" y="2167128"/>
            <a:ext cx="548640" cy="548640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014" y="230428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0854" y="2807208"/>
            <a:ext cx="21403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30854" y="3118104"/>
            <a:ext cx="2140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messaging with typing, unread counts &amp; live alerts.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9292" y="1965960"/>
            <a:ext cx="254271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20460" y="2167128"/>
            <a:ext cx="548640" cy="548640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620" y="230428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20460" y="2807208"/>
            <a:ext cx="21403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&amp; geolocation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20460" y="3118104"/>
            <a:ext cx="2140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pin, auto-detect location, get directions.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08897" y="1965960"/>
            <a:ext cx="254271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10065" y="2167128"/>
            <a:ext cx="548640" cy="548640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225" y="230428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0065" y="2807208"/>
            <a:ext cx="21403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210065" y="3118104"/>
            <a:ext cx="2140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with filters, sort &amp; autocomplete.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40080" y="3950208"/>
            <a:ext cx="254271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41248" y="4151376"/>
            <a:ext cx="548640" cy="548640"/>
          </a:xfrm>
          <a:prstGeom prst="ellipse">
            <a:avLst/>
          </a:prstGeom>
          <a:solidFill>
            <a:srgbClr val="FDEBD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4288536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41248" y="4791456"/>
            <a:ext cx="21403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listings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841248" y="5102352"/>
            <a:ext cx="2140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visibility boosts — monetization built in.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429686" y="3950208"/>
            <a:ext cx="254271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630854" y="4151376"/>
            <a:ext cx="548640" cy="548640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8014" y="4288536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630854" y="4791456"/>
            <a:ext cx="21403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accounts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3630854" y="5102352"/>
            <a:ext cx="2140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 + JWT auth with refresh rotation.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219292" y="3950208"/>
            <a:ext cx="254271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420460" y="4151376"/>
            <a:ext cx="548640" cy="548640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7620" y="4288536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420460" y="4791456"/>
            <a:ext cx="21403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</a:t>
            </a:r>
            <a:endParaRPr lang="en-US" sz="1350" dirty="0"/>
          </a:p>
        </p:txBody>
      </p:sp>
      <p:sp>
        <p:nvSpPr>
          <p:cNvPr id="39" name="Text 30"/>
          <p:cNvSpPr/>
          <p:nvPr/>
        </p:nvSpPr>
        <p:spPr>
          <a:xfrm>
            <a:off x="6420460" y="5102352"/>
            <a:ext cx="2140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listings and revisit them anytime.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9008897" y="3950208"/>
            <a:ext cx="254271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210065" y="4151376"/>
            <a:ext cx="548640" cy="548640"/>
          </a:xfrm>
          <a:prstGeom prst="ellipse">
            <a:avLst/>
          </a:prstGeom>
          <a:solidFill>
            <a:srgbClr val="FDEBD3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7225" y="4288536"/>
            <a:ext cx="274320" cy="27432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210065" y="4791456"/>
            <a:ext cx="21403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moderation</a:t>
            </a:r>
            <a:endParaRPr lang="en-US" sz="1350" dirty="0"/>
          </a:p>
        </p:txBody>
      </p:sp>
      <p:sp>
        <p:nvSpPr>
          <p:cNvPr id="44" name="Text 34"/>
          <p:cNvSpPr/>
          <p:nvPr/>
        </p:nvSpPr>
        <p:spPr>
          <a:xfrm>
            <a:off x="9210065" y="5102352"/>
            <a:ext cx="2140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for stats, users &amp; content control.</a:t>
            </a:r>
            <a:endParaRPr lang="en-US" sz="1000" dirty="0"/>
          </a:p>
        </p:txBody>
      </p:sp>
      <p:pic>
        <p:nvPicPr>
          <p:cNvPr id="45" name="Image 8" descr="mar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6400800"/>
            <a:ext cx="237744" cy="237744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932688" y="6391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SYT · Sell Your Things</a:t>
            </a:r>
            <a:endParaRPr lang="en-US" sz="900" dirty="0"/>
          </a:p>
        </p:txBody>
      </p:sp>
      <p:sp>
        <p:nvSpPr>
          <p:cNvPr id="47" name="Text 36"/>
          <p:cNvSpPr/>
          <p:nvPr/>
        </p:nvSpPr>
        <p:spPr>
          <a:xfrm>
            <a:off x="10820095" y="63916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LAST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to scale, de-risked from day 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4298" cy="1325880"/>
          </a:xfrm>
          <a:prstGeom prst="roundRect">
            <a:avLst>
              <a:gd name="adj" fmla="val 5517"/>
            </a:avLst>
          </a:prstGeom>
          <a:solidFill>
            <a:srgbClr val="111827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47672"/>
            <a:ext cx="345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348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679192"/>
            <a:ext cx="345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8698" y="1783080"/>
            <a:ext cx="3454298" cy="1325880"/>
          </a:xfrm>
          <a:prstGeom prst="roundRect">
            <a:avLst>
              <a:gd name="adj" fmla="val 5517"/>
            </a:avLst>
          </a:prstGeom>
          <a:solidFill>
            <a:srgbClr val="111827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68698" y="1947672"/>
            <a:ext cx="345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368698" y="2679192"/>
            <a:ext cx="345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7317" y="1783080"/>
            <a:ext cx="3454298" cy="1325880"/>
          </a:xfrm>
          <a:prstGeom prst="roundRect">
            <a:avLst>
              <a:gd name="adj" fmla="val 5517"/>
            </a:avLst>
          </a:prstGeom>
          <a:solidFill>
            <a:srgbClr val="111827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97317" y="1947672"/>
            <a:ext cx="345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097317" y="2679192"/>
            <a:ext cx="345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coverage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10128"/>
            <a:ext cx="531860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77824" y="3575304"/>
            <a:ext cx="566928" cy="566928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3717036"/>
            <a:ext cx="283464" cy="28346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45920" y="3456432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645920" y="3822192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→ services → repositories. Clean, testable, easy to extend.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33008" y="3310128"/>
            <a:ext cx="531860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70752" y="3575304"/>
            <a:ext cx="566928" cy="566928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484" y="3717036"/>
            <a:ext cx="283464" cy="28346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38848" y="3456432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7238848" y="3822192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rate limiting, input sanitization, bcrypt &amp; role guards.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40080" y="4590288"/>
            <a:ext cx="531860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77824" y="4855464"/>
            <a:ext cx="566928" cy="566928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4997196"/>
            <a:ext cx="283464" cy="28346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645920" y="4736592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Cloud-ready deploy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1645920" y="5102352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Railway, with pluggable local / Amazon S3 storage.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233008" y="4590288"/>
            <a:ext cx="531860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470752" y="4855464"/>
            <a:ext cx="566928" cy="566928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484" y="4997196"/>
            <a:ext cx="283464" cy="28346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238848" y="4736592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hireable stack</a:t>
            </a:r>
            <a:endParaRPr lang="en-US" sz="1450" dirty="0"/>
          </a:p>
        </p:txBody>
      </p:sp>
      <p:sp>
        <p:nvSpPr>
          <p:cNvPr id="32" name="Text 26"/>
          <p:cNvSpPr/>
          <p:nvPr/>
        </p:nvSpPr>
        <p:spPr>
          <a:xfrm>
            <a:off x="7238848" y="5102352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TypeScript, Node/Express, MongoDB, Socket.IO.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63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senior engineering already in the bank — your capital funds growth, not rebuilding.</a:t>
            </a:r>
            <a:endParaRPr lang="en-US" sz="1400" dirty="0"/>
          </a:p>
        </p:txBody>
      </p:sp>
      <p:pic>
        <p:nvPicPr>
          <p:cNvPr id="34" name="Image 4" descr="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6400800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32688" y="6391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SYT · Sell Your Things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0820095" y="63916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multi-billion-dollar market in motion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FF6B35"/>
          </a:solidFill>
          <a:ln/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96596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· India recommerce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FF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$5.9B (2025) → $8.6B by 2029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4389120" cy="960120"/>
          </a:xfrm>
          <a:prstGeom prst="roundRect">
            <a:avLst>
              <a:gd name="adj" fmla="val 5714"/>
            </a:avLst>
          </a:prstGeom>
          <a:solidFill>
            <a:srgbClr val="FFA15C"/>
          </a:solidFill>
          <a:ln/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310896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· India online classifieds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FF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$2.7B addressable today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4251960"/>
            <a:ext cx="3200400" cy="960120"/>
          </a:xfrm>
          <a:prstGeom prst="roundRect">
            <a:avLst>
              <a:gd name="adj" fmla="val 5714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425196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· City-by-city beachhead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FF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[ X ]% capture in 24 months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1% of online classifieds ≈ $27M of annual GMV opportunity.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recommerce market (US$ billions)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355080" y="214884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ResearchAndMarkets — India Recommerce Intelligence Report 2025 ($5.9B→$8.6B); Ken Research / Statista — India online classifieds.</a:t>
            </a:r>
            <a:endParaRPr lang="en-US" sz="900" dirty="0"/>
          </a:p>
        </p:txBody>
      </p:sp>
      <p:pic>
        <p:nvPicPr>
          <p:cNvPr id="14" name="Image 0" descr="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0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32688" y="6391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SYT · Sell Your Things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820095" y="63916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SYT makes money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18608" cy="1691640"/>
          </a:xfrm>
          <a:prstGeom prst="roundRect">
            <a:avLst>
              <a:gd name="adj" fmla="val 4324"/>
            </a:avLst>
          </a:prstGeom>
          <a:solidFill>
            <a:srgbClr val="FFF1E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286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47008" y="21396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D63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· LIVE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828800" y="2121408"/>
            <a:ext cx="2118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&amp; promoted listings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pay to feature ads and rank higher in search &amp; feed. Already live in the product.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33008" y="1828800"/>
            <a:ext cx="5318608" cy="1691640"/>
          </a:xfrm>
          <a:prstGeom prst="roundRect">
            <a:avLst>
              <a:gd name="adj" fmla="val 4324"/>
            </a:avLst>
          </a:prstGeom>
          <a:solidFill>
            <a:srgbClr val="FFF1E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07328" y="210312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22860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539935" y="21396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D63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7421728" y="2121408"/>
            <a:ext cx="2118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&amp; featured placement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07328" y="288036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Brands, dealers and local businesses sponsor categories and banner placements.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0080" y="3703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STREAMS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345429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9536" y="4315968"/>
            <a:ext cx="530352" cy="530352"/>
          </a:xfrm>
          <a:prstGeom prst="ellipse">
            <a:avLst/>
          </a:prstGeom>
          <a:solidFill>
            <a:srgbClr val="FDEBD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4448556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4169664"/>
            <a:ext cx="2357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subscriptions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554480" y="4535424"/>
            <a:ext cx="2357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monthly plans for high-volume sellers.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368698" y="4023360"/>
            <a:ext cx="345429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88154" y="4315968"/>
            <a:ext cx="530352" cy="530352"/>
          </a:xfrm>
          <a:prstGeom prst="ellipse">
            <a:avLst/>
          </a:prstGeom>
          <a:solidFill>
            <a:srgbClr val="FDEBD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742" y="4448556"/>
            <a:ext cx="265176" cy="2651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83098" y="4169664"/>
            <a:ext cx="2357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transactions &amp; escrow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283098" y="4535424"/>
            <a:ext cx="2357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payments take a small per-deal fee.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8097317" y="4023360"/>
            <a:ext cx="345429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316773" y="4315968"/>
            <a:ext cx="530352" cy="530352"/>
          </a:xfrm>
          <a:prstGeom prst="ellipse">
            <a:avLst/>
          </a:prstGeom>
          <a:solidFill>
            <a:srgbClr val="FDEBD3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361" y="4448556"/>
            <a:ext cx="265176" cy="26517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011717" y="4169664"/>
            <a:ext cx="2357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 services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9011717" y="4535424"/>
            <a:ext cx="2357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Verified-seller badges, auto-reposts, analytics.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640080" y="55321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63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 &amp; scalable:  </a:t>
            </a:r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delivery, low CAC via organic + referral loops, and network effects that compound with every new user.</a:t>
            </a:r>
            <a:endParaRPr lang="en-US" sz="1350" dirty="0"/>
          </a:p>
        </p:txBody>
      </p:sp>
      <p:pic>
        <p:nvPicPr>
          <p:cNvPr id="33" name="Image 5" descr="m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6400800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32688" y="6391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SYT · Sell Your Things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820095" y="63916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momentum — and revenue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and monetizing. Replace the bracketed values with your latest figures before sending.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5429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4231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852928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[ 5,000+ ]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14400" y="3310128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8698" y="2011680"/>
            <a:ext cx="345429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3018" y="2286000"/>
            <a:ext cx="548640" cy="548640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178" y="24231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3018" y="2852928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[ 2,500+ ]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4643018" y="3310128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posted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97317" y="2011680"/>
            <a:ext cx="345429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71637" y="2286000"/>
            <a:ext cx="548640" cy="548640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797" y="24231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71637" y="2852928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₹X.X L ]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8371637" y="3310128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facilitated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384048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" y="4114800"/>
            <a:ext cx="548640" cy="548640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2519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470916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3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₹XX,XXX ]</a:t>
            </a:r>
            <a:endParaRPr lang="en-US" sz="2600" dirty="0"/>
          </a:p>
        </p:txBody>
      </p:sp>
      <p:sp>
        <p:nvSpPr>
          <p:cNvPr id="24" name="Text 18"/>
          <p:cNvSpPr/>
          <p:nvPr/>
        </p:nvSpPr>
        <p:spPr>
          <a:xfrm>
            <a:off x="914400" y="521208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revenue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368698" y="384048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43018" y="4114800"/>
            <a:ext cx="548640" cy="548640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178" y="425196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43018" y="470916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3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XX% ]</a:t>
            </a:r>
            <a:endParaRPr lang="en-US" sz="2600" dirty="0"/>
          </a:p>
        </p:txBody>
      </p:sp>
      <p:sp>
        <p:nvSpPr>
          <p:cNvPr id="29" name="Text 22"/>
          <p:cNvSpPr/>
          <p:nvPr/>
        </p:nvSpPr>
        <p:spPr>
          <a:xfrm>
            <a:off x="4643018" y="521208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growth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097317" y="384048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111827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8371637" y="4059936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SIGNALS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8371637" y="4407408"/>
            <a:ext cx="29513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returning to re-list &amp; boost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/ referral-led signups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chat-to-deal conversion</a:t>
            </a:r>
            <a:endParaRPr lang="en-US" sz="1200" dirty="0"/>
          </a:p>
        </p:txBody>
      </p:sp>
      <p:pic>
        <p:nvPicPr>
          <p:cNvPr id="33" name="Image 5" descr="m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6400800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32688" y="6391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SYT · Sell Your Things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820095" y="63916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city by city, category by category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21045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12848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2286000"/>
            <a:ext cx="1930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661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one city + three high-liquidity categories: mobiles, vehicles &amp; furniture.</a:t>
            </a:r>
            <a:endParaRPr lang="en-US" sz="1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5130" y="2816352"/>
            <a:ext cx="310896" cy="31089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90618" y="1920240"/>
            <a:ext cx="321045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64938" y="2212848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4764938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542178" y="2286000"/>
            <a:ext cx="1930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flywheel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764938" y="3063240"/>
            <a:ext cx="2661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supply, then SEO + referral loops and hyperlocal trust pull in demand.</a:t>
            </a:r>
            <a:endParaRPr lang="en-US" sz="12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669" y="2816352"/>
            <a:ext cx="310896" cy="31089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341157" y="1920240"/>
            <a:ext cx="321045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15477" y="2212848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4"/>
          <p:cNvSpPr/>
          <p:nvPr/>
        </p:nvSpPr>
        <p:spPr>
          <a:xfrm>
            <a:off x="8615477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9392717" y="2286000"/>
            <a:ext cx="1930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&amp; expand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8615477" y="3063240"/>
            <a:ext cx="2661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proven playbook city by city across India.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40080" y="43434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CHANNELS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40080" y="4709160"/>
            <a:ext cx="1999427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1388334" y="4855464"/>
            <a:ext cx="502920" cy="502920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064" y="4981194"/>
            <a:ext cx="251460" cy="2514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85800" y="5367528"/>
            <a:ext cx="1907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content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2868107" y="4709160"/>
            <a:ext cx="1999427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616361" y="4855464"/>
            <a:ext cx="502920" cy="502920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091" y="4981194"/>
            <a:ext cx="251460" cy="2514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913827" y="5367528"/>
            <a:ext cx="1907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loops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096134" y="4709160"/>
            <a:ext cx="1999427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844388" y="4855464"/>
            <a:ext cx="502920" cy="502920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0118" y="4981194"/>
            <a:ext cx="251460" cy="2514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141854" y="5367528"/>
            <a:ext cx="1907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&amp; community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7324161" y="4709160"/>
            <a:ext cx="1999427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072415" y="4855464"/>
            <a:ext cx="502920" cy="502920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8145" y="4981194"/>
            <a:ext cx="251460" cy="2514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369881" y="5367528"/>
            <a:ext cx="1907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ads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9552188" y="4709160"/>
            <a:ext cx="1999427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10300442" y="4855464"/>
            <a:ext cx="502920" cy="502920"/>
          </a:xfrm>
          <a:prstGeom prst="ellipse">
            <a:avLst/>
          </a:prstGeom>
          <a:solidFill>
            <a:srgbClr val="FFF1EB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6172" y="4981194"/>
            <a:ext cx="251460" cy="25146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9597908" y="5367528"/>
            <a:ext cx="1907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onboarding</a:t>
            </a:r>
            <a:endParaRPr lang="en-US" sz="1050" dirty="0"/>
          </a:p>
        </p:txBody>
      </p:sp>
      <p:pic>
        <p:nvPicPr>
          <p:cNvPr id="42" name="Image 7" descr="ma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6400800"/>
            <a:ext cx="237744" cy="23774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32688" y="6391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SYT · Sell Your Things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10820095" y="63916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SYT wins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OLX shut its India C2C marketplace in 2023 — no incumbent is purpose-built for trusted, hyperlocal buy-and-sell.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10911535" cy="914400"/>
        </p:xfrm>
        <a:graphic>
          <a:graphicData uri="http://schemas.openxmlformats.org/drawingml/2006/table">
            <a:tbl>
              <a:tblPr/>
              <a:tblGrid>
                <a:gridCol w="4325112"/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OLX (post-2023)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Quikr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 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C2C 'sell anything' focus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in-app chat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Trust, identity &amp; moderation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Modern, mobile-first UX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Hyperlocal maps &amp; directions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boost &amp; ad monetization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0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2688" y="6391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SYT · Sell Your Things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820095" y="63916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12–18 months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901152" y="1993392"/>
            <a:ext cx="8389391" cy="0"/>
          </a:xfrm>
          <a:prstGeom prst="line">
            <a:avLst/>
          </a:prstGeom>
          <a:noFill/>
          <a:ln w="25400">
            <a:solidFill>
              <a:srgbClr val="FFA15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809712" y="1901952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94560"/>
            <a:ext cx="2522144" cy="274320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12532" y="2514600"/>
            <a:ext cx="777240" cy="7772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842" y="2708910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429000"/>
            <a:ext cx="252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3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767328"/>
            <a:ext cx="252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41248" y="4160520"/>
            <a:ext cx="211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 launch; UPI payments + escrow pilot.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06176" y="1901952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Shape 10"/>
          <p:cNvSpPr/>
          <p:nvPr/>
        </p:nvSpPr>
        <p:spPr>
          <a:xfrm>
            <a:off x="3436544" y="2194560"/>
            <a:ext cx="2522144" cy="274320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08996" y="2514600"/>
            <a:ext cx="777240" cy="7772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306" y="2708910"/>
            <a:ext cx="388620" cy="3886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36544" y="3429000"/>
            <a:ext cx="252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3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436544" y="3767328"/>
            <a:ext cx="252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AI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637712" y="4160520"/>
            <a:ext cx="211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ratings &amp; reviews; AI-assisted listings (auto-category, price suggest).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402640" y="1901952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Shape 16"/>
          <p:cNvSpPr/>
          <p:nvPr/>
        </p:nvSpPr>
        <p:spPr>
          <a:xfrm>
            <a:off x="6233008" y="2194560"/>
            <a:ext cx="2522144" cy="274320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105459" y="2514600"/>
            <a:ext cx="777240" cy="7772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769" y="2708910"/>
            <a:ext cx="388620" cy="3886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33008" y="3429000"/>
            <a:ext cx="252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3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233008" y="3767328"/>
            <a:ext cx="252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expand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434176" y="4160520"/>
            <a:ext cx="211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boost revenue; dealer tools; expand to 3 cities.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10199103" y="1901952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Shape 22"/>
          <p:cNvSpPr/>
          <p:nvPr/>
        </p:nvSpPr>
        <p:spPr>
          <a:xfrm>
            <a:off x="9029471" y="2194560"/>
            <a:ext cx="2522144" cy="274320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AF">
                <a:alpha val="2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901923" y="2514600"/>
            <a:ext cx="777240" cy="7772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233" y="2708910"/>
            <a:ext cx="388620" cy="3886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029471" y="3429000"/>
            <a:ext cx="252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3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9029471" y="3767328"/>
            <a:ext cx="252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platform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9230639" y="4160520"/>
            <a:ext cx="211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self-serve ads; delivery &amp; logistics partners.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40080" y="5212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pre-seed funds the path through native apps, payments and the first multi-city expansion.</a:t>
            </a:r>
            <a:endParaRPr lang="en-US" sz="1350" dirty="0"/>
          </a:p>
        </p:txBody>
      </p:sp>
      <p:pic>
        <p:nvPicPr>
          <p:cNvPr id="34" name="Image 4" descr="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6400800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32688" y="6391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SYT · Sell Your Things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0820095" y="63916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a pre-seed round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 – $750K</a:t>
            </a:r>
            <a:endParaRPr lang="en-US" sz="5000" dirty="0"/>
          </a:p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·  ~18-month runway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THIS UNLOCKS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356616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native iOS &amp; Android apps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[ X ] users in the beachhead city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unit economics (CAC &lt; LTV)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to ₹[ X ] MRR from boosts + ads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metrics that de-risk a Seed round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494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0" y="2103120"/>
          <a:ext cx="4754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9692640" y="548640"/>
            <a:ext cx="2194560" cy="2194560"/>
          </a:xfrm>
          <a:prstGeom prst="rect">
            <a:avLst/>
          </a:prstGeom>
        </p:spPr>
      </p:pic>
      <p:pic>
        <p:nvPicPr>
          <p:cNvPr id="3" name="Image 1" descr="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868680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00200" y="13716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SYT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rebuild India's marketplace.</a:t>
            </a:r>
            <a:endParaRPr lang="en-US" sz="4000" dirty="0"/>
          </a:p>
        </p:txBody>
      </p:sp>
      <p:sp>
        <p:nvSpPr>
          <p:cNvPr id="6" name="Shape 2"/>
          <p:cNvSpPr/>
          <p:nvPr/>
        </p:nvSpPr>
        <p:spPr>
          <a:xfrm>
            <a:off x="640080" y="3794760"/>
            <a:ext cx="3423818" cy="1371600"/>
          </a:xfrm>
          <a:prstGeom prst="roundRect">
            <a:avLst>
              <a:gd name="adj" fmla="val 5333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96112" y="4050792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187952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54480" y="4032504"/>
            <a:ext cx="2326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de-risked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1554480" y="4398264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finished, tested product — capital funds growth.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4383938" y="3794760"/>
            <a:ext cx="3423818" cy="1371600"/>
          </a:xfrm>
          <a:prstGeom prst="roundRect">
            <a:avLst>
              <a:gd name="adj" fmla="val 5333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639970" y="4050792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130" y="418795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98338" y="4032504"/>
            <a:ext cx="2326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Wide-open market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5298338" y="4398264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billion-device market the leader just vacated.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8127797" y="3794760"/>
            <a:ext cx="3423818" cy="1371600"/>
          </a:xfrm>
          <a:prstGeom prst="roundRect">
            <a:avLst>
              <a:gd name="adj" fmla="val 5333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383829" y="4050792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0989" y="4187952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042197" y="4032504"/>
            <a:ext cx="2326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Monetizing today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9042197" y="4398264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&amp; ads live, with clear streams to layer on.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640080" y="5623560"/>
            <a:ext cx="10911535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40080" y="5806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</a:t>
            </a:r>
            <a:pPr indent="0" marL="0">
              <a:buNone/>
            </a:pPr>
            <a:r>
              <a:rPr lang="en-US" sz="1600" dirty="0">
                <a:solidFill>
                  <a:srgbClr val="FF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karthikeyan6891@gmail.com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8808415" y="5806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SYT Investor Deck</dc:title>
  <dc:subject>PptxGenJS Presentation</dc:subject>
  <dc:creator>SYT — Sell Your Things</dc:creator>
  <cp:lastModifiedBy>SYT — Sell Your Things</cp:lastModifiedBy>
  <cp:revision>1</cp:revision>
  <dcterms:created xsi:type="dcterms:W3CDTF">2026-06-27T20:46:06Z</dcterms:created>
  <dcterms:modified xsi:type="dcterms:W3CDTF">2026-06-27T20:46:06Z</dcterms:modified>
</cp:coreProperties>
</file>